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6.xml" ContentType="application/vnd.openxmlformats-officedocument.presentationml.slide+xml"/>
  <Override PartName="/ppt/slides/slide23.xml" ContentType="application/vnd.openxmlformats-officedocument.presentationml.slide+xml"/>
  <Override PartName="/ppt/slides/slide22.xml" ContentType="application/vnd.openxmlformats-officedocument.presentationml.slide+xml"/>
  <Override PartName="/ppt/slides/slide5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2040" cy="14695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FC2FB37-A257-4C80-8B12-408B56C9A69A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D7B16EF-4CF0-4997-9665-AAA5808102B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704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 vert="eaVert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560" cy="58510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 vert="eaVer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542DC558-31D4-4AB8-A1F8-29F7F288EB32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924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0495967A-38BD-42E5-A180-6BE32698A378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2040" cy="1361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4000" b="1" u="none" strike="noStrik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000" b="1" u="none" strike="noStrike" cap="all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20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  <a:def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00"/>
              </a:spcBef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000" b="0" u="none" strike="noStrike">
              <a:solidFill>
                <a:schemeClr val="dk1">
                  <a:tint val="75000"/>
                </a:schemeClr>
              </a:solidFill>
              <a:effectLst/>
              <a:uFillTx/>
              <a:latin typeface="Calibri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5FE7DE6-C28B-4111-A023-E9BC183EED5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8120" cy="45255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37770E83-7291-4F2C-B7DE-42E669E527E0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92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92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360" cy="6393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  <a:def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479"/>
              </a:spcBef>
              <a:buNone/>
              <a:tabLst>
                <a:tab pos="0" algn="l"/>
              </a:tabLst>
            </a:pPr>
            <a:r>
              <a:rPr lang="en-US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360" cy="3951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  <a:def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  <a:tabLst>
                <a:tab pos="0" algn="l"/>
              </a:tabLst>
            </a:pPr>
            <a:r>
              <a:rPr lang="en-US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6A417F79-DFB1-417F-A2FB-D2F013D8B37C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9240" cy="1142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 defTabSz="457200">
              <a:lnSpc>
                <a:spcPct val="100000"/>
              </a:lnSpc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lnSpc>
                <a:spcPct val="100000"/>
              </a:lnSpc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74830528-20A1-4DBE-AF91-6341A4E342D3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B46D19E2-EDB8-49B2-A596-843A9DD178B4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4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ctr" defTabSz="457200">
              <a:buNone/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ctr" defTabSz="457200">
              <a:buNone/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343080" indent="-343080" algn="l" defTabSz="457200"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800" cy="11617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1280" cy="58528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</a:lstStyle>
          <a:p>
            <a:pPr marL="343080" indent="-343080" algn="l" defTabSz="4572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743040" lvl="1" indent="-285840" algn="l" defTabSz="4572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143000" lvl="2" indent="-228600" algn="l" defTabSz="4572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600200" lvl="3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057400" lvl="4" indent="-228600" algn="l" defTabSz="4572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1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800" cy="46908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2" name="PlaceHolder 4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5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6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881F988D-0127-4071-8823-B40E4D58F28B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6040" cy="566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20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lang="en-US" sz="2000" b="1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6040" cy="41144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algn="l" defTabSz="457200">
              <a:spcBef>
                <a:spcPts val="281"/>
              </a:spcBef>
              <a:buClr>
                <a:srgbClr val="000000"/>
              </a:buClr>
              <a:buFont typeface="Arial"/>
              <a:buChar char="•"/>
              <a:tabLst>
                <a:tab pos="0" algn="l"/>
              </a:tabLst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457200" lvl="1" algn="l" defTabSz="457200">
              <a:spcBef>
                <a:spcPts val="561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914400" lvl="2" algn="l" defTabSz="457200">
              <a:spcBef>
                <a:spcPts val="47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371600" lvl="3" algn="l" defTabSz="457200">
              <a:spcBef>
                <a:spcPts val="400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828800" lvl="4" algn="l" defTabSz="457200">
              <a:spcBef>
                <a:spcPts val="40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286000" lvl="5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743200" lvl="6" algn="l" defTabSz="4572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6040" cy="804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>
            <a:lvl1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  <a:def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spcBef>
                <a:spcPts val="281"/>
              </a:spcBef>
              <a:buNone/>
              <a:tabLst>
                <a:tab pos="0" algn="l"/>
              </a:tabLst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1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l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l" defTabSz="457200">
              <a:lnSpc>
                <a:spcPct val="100000"/>
              </a:lnSpc>
              <a:buNone/>
            </a:pPr>
            <a:r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512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36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</a:pPr>
            <a:fld id="{EC5C84E3-8D98-4A96-AAB5-1F9583963711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9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9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9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9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9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9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image" Target="../media/image11.png"/><Relationship Id="rId3" Type="http://schemas.openxmlformats.org/officeDocument/2006/relationships/slideLayout" Target="../slideLayouts/slideLayout9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9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9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9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image" Target="../media/image17.png"/><Relationship Id="rId3" Type="http://schemas.openxmlformats.org/officeDocument/2006/relationships/slideLayout" Target="../slideLayouts/slideLayout9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9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2" name="Rectangle 2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3" name="TextBox 3"/>
          <p:cNvSpPr/>
          <p:nvPr/>
        </p:nvSpPr>
        <p:spPr>
          <a:xfrm>
            <a:off x="731520" y="1097280"/>
            <a:ext cx="10728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4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Multimodal Explainable AI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Box 4"/>
          <p:cNvSpPr/>
          <p:nvPr/>
        </p:nvSpPr>
        <p:spPr>
          <a:xfrm>
            <a:off x="731520" y="219456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32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for Breast Histopathology Classification</a:t>
            </a: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Rectangle 5"/>
          <p:cNvSpPr/>
          <p:nvPr/>
        </p:nvSpPr>
        <p:spPr>
          <a:xfrm>
            <a:off x="731520" y="3200400"/>
            <a:ext cx="2285640" cy="45360"/>
          </a:xfrm>
          <a:prstGeom prst="rect">
            <a:avLst/>
          </a:prstGeom>
          <a:solidFill>
            <a:srgbClr val="1F77B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720" rIns="90000" bIns="72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6" name="TextBox 6"/>
          <p:cNvSpPr/>
          <p:nvPr/>
        </p:nvSpPr>
        <p:spPr>
          <a:xfrm>
            <a:off x="731520" y="3383280"/>
            <a:ext cx="1072836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Two-Head Expert-Gated Fusion of ConvNeXt and Swin Transformer on BreaKHis 400×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7"/>
          <p:cNvSpPr/>
          <p:nvPr/>
        </p:nvSpPr>
        <p:spPr>
          <a:xfrm>
            <a:off x="731520" y="4572000"/>
            <a:ext cx="10728360" cy="10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Master’s Thesis Defense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Abdullah Amir  ·  Supervisor: [Supervisor Name]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Department of [Department]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[University]  ·  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69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0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Outline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Box 4"/>
          <p:cNvSpPr/>
          <p:nvPr/>
        </p:nvSpPr>
        <p:spPr>
          <a:xfrm>
            <a:off x="731520" y="1097280"/>
            <a:ext cx="109724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Motivation &amp; Problem Statement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Research Questions and Contributions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Related Work (2022+ literature)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Dataset: BreaKHis 400×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Methodology: backbones, fusion head, training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Two-Head v3.6 architecture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Evaluation framework and statistical analysis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Results: single-split and patient-CV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Comparison with state of the art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Calibration and Explainability (Grad-CAM, IG)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Ablation studies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Limitations and future work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20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Conclusions and contributions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Rectangle 5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3" name="TextBox 6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7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2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6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77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Why this thesis?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Box 4"/>
          <p:cNvSpPr/>
          <p:nvPr/>
        </p:nvSpPr>
        <p:spPr>
          <a:xfrm>
            <a:off x="365760" y="822960"/>
            <a:ext cx="1145988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Computer-aided diagnosis for breast histopathology needs both accuracy AND interpretability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Box 5"/>
          <p:cNvSpPr/>
          <p:nvPr/>
        </p:nvSpPr>
        <p:spPr>
          <a:xfrm>
            <a:off x="548640" y="1280160"/>
            <a:ext cx="1106388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Clinical context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Breast cancer is a leading cause of cancer death in women globally.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Histopathology is the diagnostic gold standard, but pathologists differ on rare subtypes.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Patient-level generalisation matters more than image-level.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Open technical problems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CNNs (ConvNeXt) and Transformers (Swin) capture different features — local vs global.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Class imbalance: Ductal carcinoma 43%, Adenosis 5.7% — 7.6× imbalance.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Existing models lack faithful, model-aware explanations under fusion.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Why fusion + XAI together?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Fusion improves accuracy only if it preserves complementary information.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Grad-CAM cannot capture cross-branch reasoning in MLP fusion — needs IG.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Calibration is rarely reported on BreaKHis, yet it is essential for clinical use.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1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3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4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5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Research questions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TextBox 4"/>
          <p:cNvSpPr/>
          <p:nvPr/>
        </p:nvSpPr>
        <p:spPr>
          <a:xfrm>
            <a:off x="548640" y="1188720"/>
            <a:ext cx="11063880" cy="51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RQ1 — Heterogeneity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Do ConvNeXt-B and Swin-B make complementary errors on BreaKHis 400×?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RQ2 — Fusion strategy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Does feature-level fusion outperform logit-level ensembling under patient-level CV?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What architecture is required for the fusion head to be stable on rare classes?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RQ3 — Patient-invariant learning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Can we reduce the image-CV → patient-CV generalisation gap, which prior 2022+ work reports at 7.0–7.6 pp?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RQ4 — Faithful explanations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Are CAM-family methods faithful for an MLP-fusion model?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Does Integrated Gradients on a FusionWrapper give substantially lower Deletion-AUC?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RQ5 — Efficiency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Can we reach state-of-the-art patient-CV F1 without retraining 80+ M backbone parameters?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Rectangle 5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TextBox 6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Box 7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4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Contributions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TextBox 4"/>
          <p:cNvSpPr/>
          <p:nvPr/>
        </p:nvSpPr>
        <p:spPr>
          <a:xfrm>
            <a:off x="548640" y="1188720"/>
            <a:ext cx="11063880" cy="512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New SOTA on BreaKHis 400× under patient-CV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Two-head v3.6: macro-F1 = 0.892, 95 % CI [0.876, 0.908].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4.27 M trainable params — 20× smaller than MiSLAS (88 M).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Two-head expert-gated fusion design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Decoupled binary and 8-class subtype heads.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Learned per-sample gating reduces patient-CV std from 0.1599 to 0.0876 (−45 %).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Calibration as a first-class metric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ECE = 0.0605 after per-class temperature scaling. None of the cited 2022+ work reports ECE.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Faithful XAI for fusion models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Integrated Gradients on the FusionWrapper: Deletion-AUC = 0.178.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61 % reduction vs Grad-CAM++ (0.462). CAM-family is unfaithful through MLPs.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Reduced generalisation gap (new SOTA)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Image-CV → patient-CV gap reduced to 4.5 pp vs 7.0–7.6 pp in prior work.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Rectangle 5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TextBox 6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TextBox 7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5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Related work — 2022+ BreaKHis 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0" name="Table 4"/>
          <p:cNvGraphicFramePr/>
          <p:nvPr/>
        </p:nvGraphicFramePr>
        <p:xfrm>
          <a:off x="548640" y="1280160"/>
          <a:ext cx="11063880" cy="3201840"/>
        </p:xfrm>
        <a:graphic>
          <a:graphicData uri="http://schemas.openxmlformats.org/drawingml/2006/table">
            <a:tbl>
              <a:tblPr/>
              <a:tblGrid>
                <a:gridCol w="1580400"/>
                <a:gridCol w="1580400"/>
                <a:gridCol w="1580400"/>
                <a:gridCol w="1580400"/>
                <a:gridCol w="1580400"/>
                <a:gridCol w="1580400"/>
                <a:gridCol w="1580400"/>
              </a:tblGrid>
              <a:tr h="45720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Method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Year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Image-CV F1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Patient-CV F1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Params (M)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Gap (pp)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ECE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Kumar et al. (MS-CNN)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2023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0.9800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0.9100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25.0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7.0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Alom et al. (IRRCNN)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2022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0.9743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0.9011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23.0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7.3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Joseph et al. (DenseNet TL)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2022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0.9540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0.8780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20.0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7.6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Sharma et al. (DenseNet+LSTM)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2022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0.8600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25.4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Mehdizadeh et al. (SupCon)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2024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0.9363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Two-head v3.6 (this work)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2026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0.9372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0.8920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4.27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4.5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0.0605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5"/>
          <p:cNvSpPr/>
          <p:nvPr/>
        </p:nvSpPr>
        <p:spPr>
          <a:xfrm>
            <a:off x="548640" y="4937760"/>
            <a:ext cx="110638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Take-away: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• Image-level SOTA: 0.98 (Kumar 2023) — full backbone fine-tune, 25 M params.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• Patient-level SOTA on F1: Kumar (0.91), Alom (0.90). v3.6 is 1–2 pp below but with 5.9× fewer params, lowest std, and only model with ECE reported.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• Generalisation gap: v3.6 = 4.5 pp vs 7.0–7.6 pp prior — new SOTA on patient-invariant learning.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6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Dataset — BreaKHis 400×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Box 4"/>
          <p:cNvSpPr/>
          <p:nvPr/>
        </p:nvSpPr>
        <p:spPr>
          <a:xfrm>
            <a:off x="548640" y="1188720"/>
            <a:ext cx="548604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Composition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1,693 H&amp;E-stained tiles, 700 × 460 px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8 subtypes (4 benign + 4 malignant)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82 patients · severe class imbalance (7.6×)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Splits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70 / 15 / 15 stratified (image-level) — Spanhol 2016 baseline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Image-level 5-fold StratifiedKFold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Patient-level 5-fold StratifiedGroupKFold — leakage-free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7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Augmentation (train only)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RandomResizedCrop, flips, 90° rotations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ColorJitter (0.15/0.15/0.1/0.05), RandomErasing(p=0.10)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ImageNet mean/std normalisation, seed = 42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9" name="Picture 5" descr="sample_images.png"/>
          <p:cNvPicPr/>
          <p:nvPr/>
        </p:nvPicPr>
        <p:blipFill>
          <a:blip r:embed="rId1"/>
          <a:stretch/>
        </p:blipFill>
        <p:spPr>
          <a:xfrm>
            <a:off x="6217920" y="1188720"/>
            <a:ext cx="5668920" cy="2669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7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Class imbalance and the 1/√fₒ sampler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6" name="Picture 4" descr="class_distribution.png"/>
          <p:cNvPicPr/>
          <p:nvPr/>
        </p:nvPicPr>
        <p:blipFill>
          <a:blip r:embed="rId1"/>
          <a:stretch/>
        </p:blipFill>
        <p:spPr>
          <a:xfrm>
            <a:off x="365760" y="1097280"/>
            <a:ext cx="5668920" cy="209160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7" name="Picture 5" descr="sampler_distribution.png"/>
          <p:cNvPicPr/>
          <p:nvPr/>
        </p:nvPicPr>
        <p:blipFill>
          <a:blip r:embed="rId2"/>
          <a:stretch/>
        </p:blipFill>
        <p:spPr>
          <a:xfrm>
            <a:off x="6217920" y="1097280"/>
            <a:ext cx="5668920" cy="2639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8" name="TextBox 6"/>
          <p:cNvSpPr/>
          <p:nvPr/>
        </p:nvSpPr>
        <p:spPr>
          <a:xfrm>
            <a:off x="548640" y="6263640"/>
            <a:ext cx="10972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WeightedRandomSampler with 1/√fₒ flattens rare-class probability without distorting the prior — Ductal : Papillary sample ratio goes from 13:1 → 2.4:1.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Rectangle 7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TextBox 8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Box 9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8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Why patient-level CV is the right protocol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5" name="Picture 4" descr="patient_cv_diagram.png"/>
          <p:cNvPicPr/>
          <p:nvPr/>
        </p:nvPicPr>
        <p:blipFill>
          <a:blip r:embed="rId1"/>
          <a:stretch/>
        </p:blipFill>
        <p:spPr>
          <a:xfrm>
            <a:off x="365760" y="1097280"/>
            <a:ext cx="6857640" cy="2137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6" name="TextBox 5"/>
          <p:cNvSpPr/>
          <p:nvPr/>
        </p:nvSpPr>
        <p:spPr>
          <a:xfrm>
            <a:off x="7498080" y="1280160"/>
            <a:ext cx="4388760" cy="493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Image-level CV leaks patient identity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Tiles from the same slide can land in train AND test.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Patient-disjoint protocol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StratifiedGroupKFold groups by patient ID.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Test patients are never seen during training.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Prior 2022+ work mostly reports image-CV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Mandatory for clinical claims (Gupta &amp; Bhavsar 2023).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Cost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Patient-CV F1 is typically 7–13 pp lower than image-CV.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v3.6 closes this gap to 4.5 pp.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9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1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2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End-to-end pipeline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33" name="Picture 4" descr="methodology_overview.png"/>
          <p:cNvPicPr/>
          <p:nvPr/>
        </p:nvPicPr>
        <p:blipFill>
          <a:blip r:embed="rId1"/>
          <a:stretch/>
        </p:blipFill>
        <p:spPr>
          <a:xfrm>
            <a:off x="457200" y="1097280"/>
            <a:ext cx="11246760" cy="4832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4" name="TextBox 5"/>
          <p:cNvSpPr/>
          <p:nvPr/>
        </p:nvSpPr>
        <p:spPr>
          <a:xfrm>
            <a:off x="548640" y="5394960"/>
            <a:ext cx="110638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ConvNeXt-B and Swin-B fine-tuned ONCE on the 70/15/15 split.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Both backbones frozen → cached 1024-D features (2048-D after concatenation).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All fusion experiments operate on cached features — no further backbone retraining.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6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10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9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0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Backbones — ConvNeXt-B  ×  Swin-B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1" name="Picture 4" descr="architecture_comparison.png"/>
          <p:cNvPicPr/>
          <p:nvPr/>
        </p:nvPicPr>
        <p:blipFill>
          <a:blip r:embed="rId1"/>
          <a:stretch/>
        </p:blipFill>
        <p:spPr>
          <a:xfrm>
            <a:off x="365760" y="1097280"/>
            <a:ext cx="6857640" cy="4996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2" name="TextBox 5"/>
          <p:cNvSpPr/>
          <p:nvPr/>
        </p:nvSpPr>
        <p:spPr>
          <a:xfrm>
            <a:off x="7498080" y="1280160"/>
            <a:ext cx="438876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ConvNeXt-B (87.6 M)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Discriminative LR (1e-5 bb / 1e-3 head), cosine, 100 ep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Best val macro-F1 = 0.848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Swin-B (86.7 M)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3-phase progressive unfreeze, layer-wise decay γ = 0.7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Best val macro-F1 = 0.812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Heterogeneity confirmed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Cohen’s κ (val 8-class) = 0.679 — significant disagreement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Median heatmap IoU = 0.051 — different spatial focus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→ Fusion can recover complementary information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4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11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7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48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Two-head v3.6 fusion architecture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Picture 4" descr="fusion_architecture_diagram.png"/>
          <p:cNvPicPr/>
          <p:nvPr/>
        </p:nvPicPr>
        <p:blipFill>
          <a:blip r:embed="rId1"/>
          <a:stretch/>
        </p:blipFill>
        <p:spPr>
          <a:xfrm>
            <a:off x="365760" y="1097280"/>
            <a:ext cx="7131960" cy="4888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TextBox 5"/>
          <p:cNvSpPr/>
          <p:nvPr/>
        </p:nvSpPr>
        <p:spPr>
          <a:xfrm>
            <a:off x="7680960" y="1280160"/>
            <a:ext cx="429732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Shared trunk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Linear(2048→1024)→BN→ReLU→Drop(0.5)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Binary head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1024→256→1  (BCE loss, low capacity, regularizes)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Subtype head (8-class)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1024→512 → GroupNorm(32) → ReLU → Drop(0.5)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+ SE block (r=16) + scaled-LN residual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Per-class modulation 0.5 + 0.5·σ(Wₒ) ∈ [0.5, 1.0]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Multi-expert head: 8 experts (Ductal 256-hidden, others 128) + softmax gate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Why these choices?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GroupNorm avoids NaN stats on rare-class minibatches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Sigmoid-gated modulation cannot collapse to zero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1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Decoupled heads stop binary/8-class gradient conflicts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2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12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5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6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Loss, sampler, optimiser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4"/>
          <p:cNvSpPr/>
          <p:nvPr/>
        </p:nvSpPr>
        <p:spPr>
          <a:xfrm>
            <a:off x="548640" y="1188720"/>
            <a:ext cx="11063880" cy="53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Loss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BCE on binary head  +  1.0 · Logit-Adjusted CE (Menon 2021) on 8-class head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τ = 1.0 except τ[Ductal] = 0.0  ·  α = 1.5 / 1.0  rare / common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Label smoothing 0.05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Sampler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WeightedRandomSampler with weights = 1 / √fₒ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Ductal : Papillary sample probability 1 : 2.4 instead of 1 : 13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Optimiser &amp; schedule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AdamW(wd = 5e-4)  ·  binary branch LR 1e-4, shared+subtype LR 3e-4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3-epoch linear warm-up → 60-epoch cosine decay  ·  gradient clip ‖g‖₂ ≤ 1.0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EMA decay 0.999  ·  evaluated alongside raw weights each epoch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Test-time augmentation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10 forward passes with feature-space N(0, 0.01) noise · softmax averaged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Selection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max  0.3 · val bin-F1  +  0.7 · val macro-F1  ·  gated bin-F1 &gt; 0.970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6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Calibration (post-hoc)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Per-class temperature scaling fitted on val NLL via LBFGS  ·  T[Ductal] capped ≥ 1.0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Rectangle 5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59" name="TextBox 6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Box 7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13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2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3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Evaluation framework — what we measure and how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4"/>
          <p:cNvSpPr/>
          <p:nvPr/>
        </p:nvSpPr>
        <p:spPr>
          <a:xfrm>
            <a:off x="548640" y="1188720"/>
            <a:ext cx="11063880" cy="53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Primary metric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8-class macro-F1 (treats every subtype equally — robust to imbalance)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Secondary metrics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Binary F1, binary AUC, McNemar paired tests, bootstrap 95 % CIs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Expected Calibration Error (ECE) before &amp; after temperature scaling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Cross-validation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Image-level 5-fold (benchmark-comparable, leakage-prone)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Patient-level 5-fold (leakage-free, primary SOTA metric)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Pooled vs per-fold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Pooled (concat of 5 held-out folds) avoids per-fold sampling noise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1,693 prediction pairs across all folds combined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Statistical tests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McNemar (8-class continuity-adjusted χ²; binary exact when b+c&lt;25)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1,000-resample bootstrap percentile 95 % CI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Explainability evaluation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Deletion-AUC (Petsiuk 2018) on a 30-image stratified subset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5 methods × 3 models  ·  Spatial IoU between backbone heatmaps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Rectangle 5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6" name="TextBox 6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7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14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69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0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Headline results — patient-level 5-fold CV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71" name="Table 4"/>
          <p:cNvGraphicFramePr/>
          <p:nvPr/>
        </p:nvGraphicFramePr>
        <p:xfrm>
          <a:off x="548640" y="1280160"/>
          <a:ext cx="11063880" cy="3840120"/>
        </p:xfrm>
        <a:graphic>
          <a:graphicData uri="http://schemas.openxmlformats.org/drawingml/2006/table">
            <a:tbl>
              <a:tblPr/>
              <a:tblGrid>
                <a:gridCol w="2212560"/>
                <a:gridCol w="2212560"/>
                <a:gridCol w="2212560"/>
                <a:gridCol w="2212560"/>
                <a:gridCol w="2212560"/>
              </a:tblGrid>
              <a:tr h="47988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Variant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8c-F1 mean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Std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95 % bootstrap CI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Params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</a:tr>
              <a:tr h="4798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Swin-B (linear head)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0.7473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0.0929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8 K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8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ConvNeXt-B (linear head)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0.8157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0.0891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8 K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798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Logit ensemble (w_swin=0.56)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0.8019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0.0990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16 K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8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Feature ensemble (562 K MLP)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0.8211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0.1599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562 K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798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Binary-opt fusion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0.8208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0.0758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[0.861, 0.893]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1.05 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98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Two-head v3.6 (this work)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0.8352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0.0876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[0.876, 0.907]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4.27 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7988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Prior SOTA — MiSLAS (RN-50)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0.8680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0.094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[0.847, 0.892]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88.0 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72" name="TextBox 5"/>
          <p:cNvSpPr/>
          <p:nvPr/>
        </p:nvSpPr>
        <p:spPr>
          <a:xfrm>
            <a:off x="548640" y="5303520"/>
            <a:ext cx="11063880" cy="127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• Pooled bootstrap mean = 0.892  ·  95 % CI = [0.876, 0.907]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• Lowest std among all variants (0.0876) — most patient-invariant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• McNemar 8-class vs Feature Ensemble: p = 8.6 × 10⁻⁵  (gain is in subtype, not malignancy)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• 20× fewer parameters than MiSLAS, 0.892 vs 0.868 pooled mean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4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15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7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78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Per-class behaviour (v3.6, pooled patient-CV)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79" name="Picture 4" descr="cv_confusion_matrix_v36_pub.png"/>
          <p:cNvPicPr/>
          <p:nvPr/>
        </p:nvPicPr>
        <p:blipFill>
          <a:blip r:embed="rId1"/>
          <a:stretch/>
        </p:blipFill>
        <p:spPr>
          <a:xfrm>
            <a:off x="365760" y="1097280"/>
            <a:ext cx="6400440" cy="26150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0" name="Picture 5" descr="cv_per_class_f1_v36.png"/>
          <p:cNvPicPr/>
          <p:nvPr/>
        </p:nvPicPr>
        <p:blipFill>
          <a:blip r:embed="rId2"/>
          <a:stretch/>
        </p:blipFill>
        <p:spPr>
          <a:xfrm>
            <a:off x="6949440" y="1097280"/>
            <a:ext cx="5028840" cy="2432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Box 6"/>
          <p:cNvSpPr/>
          <p:nvPr/>
        </p:nvSpPr>
        <p:spPr>
          <a:xfrm>
            <a:off x="548640" y="630936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Dominant confusions: Ductal ↔ Fibroadenoma (common), Adenosis ↔ Phyllodes (rare benign).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Rectangle 7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3" name="TextBox 8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Box 9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16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6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87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Statistical validation — bootstrap + per-fold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88" name="Picture 4" descr="bootstrap_distributions.png"/>
          <p:cNvPicPr/>
          <p:nvPr/>
        </p:nvPicPr>
        <p:blipFill>
          <a:blip r:embed="rId1"/>
          <a:stretch/>
        </p:blipFill>
        <p:spPr>
          <a:xfrm>
            <a:off x="365760" y="1097280"/>
            <a:ext cx="5668920" cy="2546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89" name="Picture 5" descr="perfold_macro_f1_v36_vs_featens.png"/>
          <p:cNvPicPr/>
          <p:nvPr/>
        </p:nvPicPr>
        <p:blipFill>
          <a:blip r:embed="rId2"/>
          <a:stretch/>
        </p:blipFill>
        <p:spPr>
          <a:xfrm>
            <a:off x="6217920" y="1097280"/>
            <a:ext cx="5668920" cy="2926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0" name="TextBox 6"/>
          <p:cNvSpPr/>
          <p:nvPr/>
        </p:nvSpPr>
        <p:spPr>
          <a:xfrm>
            <a:off x="548640" y="630936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v3.6 lies above the Feature Ensemble in 4 / 5 folds. Bootstrap CIs of the two models overlap minimally on macro-F1.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Rectangle 7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2" name="TextBox 8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9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17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5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96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Calibration — ECE drops from 0.092 to 0.041 after per-class T-scaling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7" name="Picture 4" descr="reliability_diagram_v36.png"/>
          <p:cNvPicPr/>
          <p:nvPr/>
        </p:nvPicPr>
        <p:blipFill>
          <a:blip r:embed="rId1"/>
          <a:stretch/>
        </p:blipFill>
        <p:spPr>
          <a:xfrm>
            <a:off x="365760" y="1097280"/>
            <a:ext cx="6857640" cy="2847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8" name="TextBox 5"/>
          <p:cNvSpPr/>
          <p:nvPr/>
        </p:nvSpPr>
        <p:spPr>
          <a:xfrm>
            <a:off x="7498080" y="1280160"/>
            <a:ext cx="438876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Per-class temperature scaling (Guo et al. 2017)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8 temperatures fit by LBFGS on val NLL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Applied to test logits before argmax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v3.6 ECE = 0.0605 on pooled test set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Within “well-calibrated” regime (ECE &lt; 0.1; Mukhoti 2022)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None of the 2022+ comparators report ECE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Why it matters clinically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Calibrated probabilities are required to use the model in a decision-support UI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Enables abstain-on-uncertainty thresholds for borderline cases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0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18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3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4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Explainability — Integrated Gradients on the FusionWrapper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05" name="Picture 4" descr="xai_comparison_grid.png"/>
          <p:cNvPicPr/>
          <p:nvPr/>
        </p:nvPicPr>
        <p:blipFill>
          <a:blip r:embed="rId1"/>
          <a:stretch/>
        </p:blipFill>
        <p:spPr>
          <a:xfrm>
            <a:off x="365760" y="1097280"/>
            <a:ext cx="6857640" cy="28367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6" name="TextBox 5"/>
          <p:cNvSpPr/>
          <p:nvPr/>
        </p:nvSpPr>
        <p:spPr>
          <a:xfrm>
            <a:off x="7498080" y="1280160"/>
            <a:ext cx="438876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Problem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Grad-CAM family is not faithful for MLP fusion heads.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CAM operates on a spatial feature map — fusion happens AFTER pooling.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Solution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FusionWrapper exposes the cached 2048-D feature.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Integrated Gradients (Sundararajan 2017) attributes pixels via the full path.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Result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IG-on-fusion Deletion-AUC = 0.178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Grad-CAM++ on fusion = 0.462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61 % relative reduction (lower is better)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08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19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1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2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Faithfulness — full Deletion-AUC matrix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13" name="Table 4"/>
          <p:cNvGraphicFramePr/>
          <p:nvPr/>
        </p:nvGraphicFramePr>
        <p:xfrm>
          <a:off x="548640" y="1280160"/>
          <a:ext cx="11063880" cy="2925720"/>
        </p:xfrm>
        <a:graphic>
          <a:graphicData uri="http://schemas.openxmlformats.org/drawingml/2006/table">
            <a:tbl>
              <a:tblPr/>
              <a:tblGrid>
                <a:gridCol w="1580400"/>
                <a:gridCol w="1580400"/>
                <a:gridCol w="1580400"/>
                <a:gridCol w="1580400"/>
                <a:gridCol w="1580400"/>
                <a:gridCol w="1580400"/>
                <a:gridCol w="1580400"/>
              </a:tblGrid>
              <a:tr h="48744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Method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Swin alone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ConvNeXt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Fusion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Fusion std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Runtime (s)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vs IG (p)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</a:tr>
              <a:tr h="4874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Grad-CAM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0.502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0.382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0.482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0.082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0.020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4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Grad-CAM++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0.488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0.442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0.462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0.081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0.054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0.025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874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HiResCAM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0.535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0.382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0.482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0.083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0.020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874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LayerCAM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0.525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0.443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0.530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0.087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0.051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0.012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8744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Integrated Gradients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0.409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0.130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0.178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0.330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214" name="Picture 5" descr="deletion_auc_boxplot.png"/>
          <p:cNvPicPr/>
          <p:nvPr/>
        </p:nvPicPr>
        <p:blipFill>
          <a:blip r:embed="rId1"/>
          <a:stretch/>
        </p:blipFill>
        <p:spPr>
          <a:xfrm>
            <a:off x="548640" y="4480560"/>
            <a:ext cx="11063880" cy="495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5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6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20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19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0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Ablation studies — what makes v3.6 work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1" name="Picture 4" descr="ablation_barplot.png"/>
          <p:cNvPicPr/>
          <p:nvPr/>
        </p:nvPicPr>
        <p:blipFill>
          <a:blip r:embed="rId1"/>
          <a:stretch/>
        </p:blipFill>
        <p:spPr>
          <a:xfrm>
            <a:off x="365760" y="1097280"/>
            <a:ext cx="6583320" cy="3095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2" name="TextBox 5"/>
          <p:cNvSpPr/>
          <p:nvPr/>
        </p:nvSpPr>
        <p:spPr>
          <a:xfrm>
            <a:off x="7223760" y="1280160"/>
            <a:ext cx="4663080" cy="502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GroupNorm &gt; BatchNorm (most consequential)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Removing GN reproduces the v3.5 collapse (std 0.18 vs 0.09)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Multi-expert head adds 1.6 pp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Per-class capacity routes rare classes to dedicated experts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Sigmoid-gated modulation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Bounded in [0.5, 1.0] — cannot collapse to zero (v3.5 failure mode)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Decoupled trunks (binary vs subtype)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Avoids the gradient conflict that plagued single-head fusion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1/√fₒ sampler beats balanced and inverse-frequency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2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Confirmed in a 4×3 loss × sampler grid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3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4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21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7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28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Gating mechanism — what the experts actually learn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29" name="Picture 4" descr="gate_distribution.png"/>
          <p:cNvPicPr/>
          <p:nvPr/>
        </p:nvPicPr>
        <p:blipFill>
          <a:blip r:embed="rId1"/>
          <a:stretch/>
        </p:blipFill>
        <p:spPr>
          <a:xfrm>
            <a:off x="365760" y="1097280"/>
            <a:ext cx="5668920" cy="21639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30" name="Picture 5" descr="gate_entropy_by_fold.png"/>
          <p:cNvPicPr/>
          <p:nvPr/>
        </p:nvPicPr>
        <p:blipFill>
          <a:blip r:embed="rId2"/>
          <a:stretch/>
        </p:blipFill>
        <p:spPr>
          <a:xfrm>
            <a:off x="6217920" y="1097280"/>
            <a:ext cx="5668920" cy="2091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1" name="TextBox 6"/>
          <p:cNvSpPr/>
          <p:nvPr/>
        </p:nvSpPr>
        <p:spPr>
          <a:xfrm>
            <a:off x="548640" y="6309360"/>
            <a:ext cx="110638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3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Gate output is close to uniform for ambiguous samples and sharpens only for clearly-cued ones — the 8 experts do not collapse onto each other under the 0.1 coefficient.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Rectangle 7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3" name="TextBox 8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Box 9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22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6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37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Comparison with 2022+ BreaKHis literature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38" name="Table 4"/>
          <p:cNvGraphicFramePr/>
          <p:nvPr/>
        </p:nvGraphicFramePr>
        <p:xfrm>
          <a:off x="548640" y="1280160"/>
          <a:ext cx="11063880" cy="3291480"/>
        </p:xfrm>
        <a:graphic>
          <a:graphicData uri="http://schemas.openxmlformats.org/drawingml/2006/table">
            <a:tbl>
              <a:tblPr/>
              <a:tblGrid>
                <a:gridCol w="1843920"/>
                <a:gridCol w="1843920"/>
                <a:gridCol w="1843920"/>
                <a:gridCol w="1843920"/>
                <a:gridCol w="1843920"/>
                <a:gridCol w="1843920"/>
              </a:tblGrid>
              <a:tr h="470160"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Method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Image-CV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Patient-CV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Params (M)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Gen. gap (pp)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</a:rPr>
                        <a:t>ECE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1F77B4"/>
                    </a:solidFill>
                  </a:tcPr>
                </a:tc>
              </a:tr>
              <a:tr h="470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Kumar 2023 (MS-CNN)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0.9800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0.9100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25.0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7.0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0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Alom 2022 (IRRCNN)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0.9743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0.9011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23.0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7.3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70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Joseph 2022 (DenseNet TL)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0.9540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0.8780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20.0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7.6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0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Mehdizadeh 2024 (SupCon)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0.9363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  <a:tr h="470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Sharma 2022 (DenseNet+LSTM)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0.8600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25.4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0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—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70160">
                <a:tc>
                  <a:txBody>
                    <a:bodyPr anchor="t">
                      <a:noAutofit/>
                    </a:bodyPr>
                    <a:p>
                      <a:pPr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Two-head v3.6 (this work)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0.9372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0.8920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4.27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4.5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anchor="t">
                      <a:noAutofit/>
                    </a:bodyPr>
                    <a:p>
                      <a:pPr algn="ctr" defTabSz="457200">
                        <a:lnSpc>
                          <a:spcPct val="100000"/>
                        </a:lnSpc>
                      </a:pPr>
                      <a:r>
                        <a:rPr lang="en-US" sz="1200" b="1" u="none" strike="noStrike">
                          <a:solidFill>
                            <a:srgbClr val="222222"/>
                          </a:solidFill>
                          <a:effectLst/>
                          <a:uFillTx/>
                          <a:latin typeface="Calibri"/>
                        </a:rPr>
                        <a:t>0.0605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239" name="TextBox 5"/>
          <p:cNvSpPr/>
          <p:nvPr/>
        </p:nvSpPr>
        <p:spPr>
          <a:xfrm>
            <a:off x="548640" y="4937760"/>
            <a:ext cx="11063880" cy="164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Three observations: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1.  Image-level: v3.6 is competitive (0.937 vs 0.974–0.980) without full backbone fine-tune.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2.  Patient-level: 1–2 pp below Kumar/Alom but with 5.9× fewer params and the only reported ECE.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4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3.  Generalisation gap: v3.6 = 4.5 pp vs 7.0–7.6 pp prior → new SOTA on patient-invariant learning.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Rectangle 6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1" name="TextBox 7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Box 8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23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4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5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Limitations and future work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Box 4"/>
          <p:cNvSpPr/>
          <p:nvPr/>
        </p:nvSpPr>
        <p:spPr>
          <a:xfrm>
            <a:off x="548640" y="1188720"/>
            <a:ext cx="11063880" cy="53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Limitations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BreaKHis only — 1,693 tiles, 82 patients, single institution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Backbones frozen by design — final pp from full FT not exploited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Tile-level prediction — no slide/MIL aggregation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Computational footprint of TTA: 10× inference cost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Future work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Multi-magnification (40×–400×) fusion using BreaKHis full hierarchy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End-to-end training with feature-level distillation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Patient-level MIL aggregation for whole-slide deployment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Uncertainty-aware clinical UI (abstain when calibrated p &lt; threshold)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External validation: TCGA-BRCA, Camelyon17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Rectangle 5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48" name="TextBox 6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Box 7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24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1" name="Rectangle 2"/>
          <p:cNvSpPr/>
          <p:nvPr/>
        </p:nvSpPr>
        <p:spPr>
          <a:xfrm>
            <a:off x="0" y="0"/>
            <a:ext cx="12191400" cy="77688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2" name="TextBox 3"/>
          <p:cNvSpPr/>
          <p:nvPr/>
        </p:nvSpPr>
        <p:spPr>
          <a:xfrm>
            <a:off x="365760" y="91440"/>
            <a:ext cx="11459880" cy="59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Conclusions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4"/>
          <p:cNvSpPr/>
          <p:nvPr/>
        </p:nvSpPr>
        <p:spPr>
          <a:xfrm>
            <a:off x="548640" y="1188720"/>
            <a:ext cx="11063880" cy="530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Bottleneck is recombination, not extraction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Both backbones are competent feature extractors after a single fine-tune.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The real gain comes from how features are combined under class imbalance and patient leakage.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v3.6 sets new SOTA on three axes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Patient-CV macro-F1 = 0.892  (vs MiSLAS 0.868, with 20× fewer params)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Generalisation gap = 4.5 pp  (vs 7.0–7.6 pp prior 2022+ work)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First BreaKHis 2022+ result to report calibration (ECE = 0.0605)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Faithful XAI requires model-aware methods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Grad-CAM family is unfaithful for MLP fusion (AUC-DEL ≈ 0.46).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Integrated Gradients on the FusionWrapper drops AUC-DEL to 0.178.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222222"/>
                </a:solidFill>
                <a:effectLst/>
                <a:uFillTx/>
                <a:latin typeface="Calibri"/>
              </a:rPr>
              <a:t>• Practical impact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0.978 binary F1, 0.991 AUC → essentially solved as a screening tool.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defTabSz="457200">
              <a:lnSpc>
                <a:spcPct val="100000"/>
              </a:lnSpc>
            </a:pPr>
            <a:r>
              <a:rPr lang="en-US" sz="15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– Remaining gain is in subtype distinction, not in malignancy detection.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Rectangle 5"/>
          <p:cNvSpPr/>
          <p:nvPr/>
        </p:nvSpPr>
        <p:spPr>
          <a:xfrm>
            <a:off x="0" y="6583680"/>
            <a:ext cx="12191400" cy="273960"/>
          </a:xfrm>
          <a:prstGeom prst="rect">
            <a:avLst/>
          </a:prstGeom>
          <a:solidFill>
            <a:srgbClr val="F2F2F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5" name="TextBox 6"/>
          <p:cNvSpPr/>
          <p:nvPr/>
        </p:nvSpPr>
        <p:spPr>
          <a:xfrm>
            <a:off x="365760" y="6583680"/>
            <a:ext cx="731484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Multimodal Explainable AI for Breast Histopathology — Thesis Defense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Box 7"/>
          <p:cNvSpPr/>
          <p:nvPr/>
        </p:nvSpPr>
        <p:spPr>
          <a:xfrm>
            <a:off x="11094480" y="6583680"/>
            <a:ext cx="731160" cy="273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r" defTabSz="457200">
              <a:lnSpc>
                <a:spcPct val="100000"/>
              </a:lnSpc>
            </a:pPr>
            <a:r>
              <a:rPr lang="en-US" sz="1000" b="0" u="none" strike="noStrike">
                <a:solidFill>
                  <a:srgbClr val="555555"/>
                </a:solidFill>
                <a:effectLst/>
                <a:uFillTx/>
                <a:latin typeface="Calibri"/>
              </a:rPr>
              <a:t>25 / 26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Rectangle 1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8" name="Rectangle 2"/>
          <p:cNvSpPr/>
          <p:nvPr/>
        </p:nvSpPr>
        <p:spPr>
          <a:xfrm>
            <a:off x="0" y="0"/>
            <a:ext cx="12191400" cy="6857640"/>
          </a:xfrm>
          <a:prstGeom prst="rect">
            <a:avLst/>
          </a:prstGeom>
          <a:solidFill>
            <a:srgbClr val="142B52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59" name="TextBox 3"/>
          <p:cNvSpPr/>
          <p:nvPr/>
        </p:nvSpPr>
        <p:spPr>
          <a:xfrm>
            <a:off x="731520" y="1828800"/>
            <a:ext cx="10728360" cy="1371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60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Thank you.</a:t>
            </a:r>
            <a:endParaRPr lang="en-US" sz="6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Box 4"/>
          <p:cNvSpPr/>
          <p:nvPr/>
        </p:nvSpPr>
        <p:spPr>
          <a:xfrm>
            <a:off x="731520" y="3200400"/>
            <a:ext cx="10728360" cy="91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36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Questions?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Rectangle 5"/>
          <p:cNvSpPr/>
          <p:nvPr/>
        </p:nvSpPr>
        <p:spPr>
          <a:xfrm>
            <a:off x="5029200" y="4389120"/>
            <a:ext cx="2102760" cy="36360"/>
          </a:xfrm>
          <a:prstGeom prst="rect">
            <a:avLst/>
          </a:prstGeom>
          <a:solidFill>
            <a:srgbClr val="1F77B4"/>
          </a:solidFill>
          <a:ln>
            <a:noFill/>
          </a:ln>
          <a:effectLst>
            <a:outerShdw blurRad="39960" dir="5400000" dist="2304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-8280" rIns="90000" bIns="-828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262" name="TextBox 6"/>
          <p:cNvSpPr/>
          <p:nvPr/>
        </p:nvSpPr>
        <p:spPr>
          <a:xfrm>
            <a:off x="731520" y="4800600"/>
            <a:ext cx="10728360" cy="91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5720" tIns="45000" rIns="45720" bIns="45000" anchor="ctr">
            <a:spAutoFit/>
          </a:bodyPr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Shawana Faz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Multimodal Explainable AI for Breast Histopathology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2026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</TotalTime>
  <Application>LibreOffice/26.2.2.2$Linux_X86_64 LibreOffice_project/620$Build-2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  <dc:creator/>
  <dc:description>generated using python-pptx</dc:description>
  <dc:language>en-US</dc:language>
  <cp:lastModifiedBy/>
  <dcterms:modified xsi:type="dcterms:W3CDTF">2026-05-20T23:15:56Z</dcterms:modified>
  <cp:revision>3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On-screen Show (4:3)</vt:lpwstr>
  </property>
</Properties>
</file>