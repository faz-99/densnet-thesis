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Multimodal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28655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for Breast Histopathology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286000" cy="4572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Two-Head Expert-Gated Fusion of ConvNeXt and Swin Transformer on BreaKHis 400×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Master’s Thesis Defense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Abdullah Amir  ·  Supervisor: [Supervisor Name]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Department of [Department]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[University]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Motivation &amp; Problem Statement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Research Questions and Contributions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Related Work (2022+ literature)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Dataset: BreaKHis 400×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Methodology: backbones, fusion head, training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Two-Head v3.6 architecture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Evaluation framework and statistical analysis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Results: single-split and patient-CV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Comparison with state of the art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Calibration and Explainability (Grad-CAM, IG)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Ablation studies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Limitations and future work</a:t>
            </a:r>
          </a:p>
          <a:p>
            <a:pPr algn="l"/>
            <a:r>
              <a:rPr sz="2000">
                <a:solidFill>
                  <a:srgbClr val="222222"/>
                </a:solidFill>
                <a:latin typeface="Calibri"/>
              </a:rPr>
              <a:t>• Conclusions and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this 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Computer-aided diagnosis for breast histopathology needs both accuracy AND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Clinical context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Breast cancer is a leading cause of cancer death in women globally.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Histopathology is the diagnostic gold standard, but pathologists differ on rare subtypes.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Patient-level generalisation matters more than image-level.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Open technical problems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CNNs (ConvNeXt) and Transformers (Swin) capture different features — local vs global.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Class imbalance: Ductal carcinoma 43%, Adenosis 5.7% — 7.6× imbalance.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Existing models lack faithful, model-aware explanations under fusion.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Why fusion + XAI together?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Fusion improves accuracy only if it preserves complementary information.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Grad-CAM cannot capture cross-branch reasoning in MLP fusion — needs IG.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Calibration is rarely reported on BreaKHis, yet it is essential for clinical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RQ1 — Heterogeneity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Do ConvNeXt-B and Swin-B make complementary errors on BreaKHis 400×?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RQ2 — Fusion strategy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Does feature-level fusion outperform logit-level ensembling under patient-level CV?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What architecture is required for the fusion head to be stable on rare classes?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RQ3 — Patient-invariant learning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Can we reduce the image-CV → patient-CV generalisation gap, which prior 2022+ work reports at 7.0–7.6 pp?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RQ4 — Faithful explanations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Are CAM-family methods faithful for an MLP-fusion model?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Does Integrated Gradients on a FusionWrapper give substantially lower Deletion-AUC?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RQ5 — Efficiency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Can we reach state-of-the-art patient-CV F1 without retraining 80+ M backbone parameters?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New SOTA on BreaKHis 400× under patient-CV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Two-head v3.6: macro-F1 = 0.892, 95 % CI [0.876, 0.908].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4.27 M trainable params — 20× smaller than MiSLAS (88 M).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Two-head expert-gated fusion design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Decoupled binary and 8-class subtype heads.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Learned per-sample gating reduces patient-CV std from 0.1599 to 0.0876 (−45 %).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Calibration as a first-class metric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ECE = 0.0605 after per-class temperature scaling. None of the cited 2022+ work reports ECE.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Faithful XAI for fusion models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Integrated Gradients on the FusionWrapper: Deletion-AUC = 0.178.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61 % reduction vs Grad-CAM++ (0.462). CAM-family is unfaithful through MLPs.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Reduced generalisation gap (new SOTA)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Image-CV → patient-CV gap reduced to 4.5 pp vs 7.0–7.6 pp in prior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Related work — 2022+ BreaKHis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Image-CV F1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Patient-CV F1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Gap (pp)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Kumar et al. (MS-CNN)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Alom et al. (IRRCNN)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0.9743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Joseph et al. (DenseNet 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Sharma et al. (DenseNet+LSTM)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Mehdizadeh et al. (SupCon)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Two-head v3.6 (this 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0.9372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0.8920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0.0605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Take-away: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Image-level SOTA: 0.98 (Kumar 2023) — full backbone fine-tune, 25 M params.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Patient-level SOTA on F1: Kumar (0.91), Alom (0.90). v3.6 is 1–2 pp below but with 5.9× fewer params, lowest std, and only model with ECE reported.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Generalisation gap: v3.6 = 4.5 pp vs 7.0–7.6 pp prior — new SOTA on patient-invariant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— BreaKHis 400×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Calibri"/>
              </a:rPr>
              <a:t>• Composition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1,693 H&amp;E-stained tiles, 700 × 460 px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8 subtypes (4 benign + 4 malignant)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82 patients · severe class imbalance (7.6×)</a:t>
            </a:r>
          </a:p>
          <a:p>
            <a:pPr algn="l"/>
            <a:r>
              <a:rPr sz="1700">
                <a:solidFill>
                  <a:srgbClr val="222222"/>
                </a:solidFill>
                <a:latin typeface="Calibri"/>
              </a:rPr>
              <a:t>• Splits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70 / 15 / 15 stratified (image-level) — Spanhol 2016 baseline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Image-level 5-fold StratifiedKFold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Patient-level 5-fold StratifiedGroupKFold — leakage-free</a:t>
            </a:r>
          </a:p>
          <a:p>
            <a:pPr algn="l"/>
            <a:r>
              <a:rPr sz="1700">
                <a:solidFill>
                  <a:srgbClr val="222222"/>
                </a:solidFill>
                <a:latin typeface="Calibri"/>
              </a:rPr>
              <a:t>• Augmentation (train only)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RandomResizedCrop, flips, 90° rotations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ColorJitter (0.15/0.15/0.1/0.05), RandomErasing(p=0.10)</a:t>
            </a:r>
          </a:p>
          <a:p>
            <a:pPr lvl="1"/>
            <a:r>
              <a:rPr sz="1400">
                <a:solidFill>
                  <a:srgbClr val="555555"/>
                </a:solidFill>
                <a:latin typeface="Calibri"/>
              </a:rPr>
              <a:t>– ImageNet mean/std normalisation, seed = 42</a:t>
            </a:r>
          </a:p>
        </p:txBody>
      </p:sp>
      <p:pic>
        <p:nvPicPr>
          <p:cNvPr id="6" name="Picture 5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2669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Class imbalance and the 1/√fₒ sampler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091996"/>
          </a:xfrm>
          <a:prstGeom prst="rect">
            <a:avLst/>
          </a:prstGeom>
        </p:spPr>
      </p:pic>
      <p:pic>
        <p:nvPicPr>
          <p:cNvPr id="6" name="Picture 5" descr="sampl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639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WeightedRandomSampler with 1/√fₒ flattens rare-class probability without distorting the prior — Ductal : Papillary sample ratio goes from 13:1 → 2.4:1.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patient-level CV is the right protocol</a:t>
            </a:r>
          </a:p>
        </p:txBody>
      </p:sp>
      <p:pic>
        <p:nvPicPr>
          <p:cNvPr id="5" name="Picture 4" descr="patient_cv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2137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28016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Image-level CV leaks patient identity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Tiles from the same slide can land in train AND test.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Patient-disjoint protocol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StratifiedGroupKFold groups by patient ID.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Test patients are never seen during training.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Prior 2022+ work mostly reports image-CV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Mandatory for clinical claims (Gupta &amp; Bhavsar 2023).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Cost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Patient-CV F1 is typically 7–13 pp lower than image-CV.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v3.6 closes this gap to 4.5 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pic>
        <p:nvPicPr>
          <p:cNvPr id="5" name="Picture 4" descr="methodolo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832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ConvNeXt-B and Swin-B fine-tuned ONCE on the 70/15/15 split.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Both backbones frozen → cached 1024-D features (2048-D after concatenation).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All fusion experiments operate on cached features — no further backbone retraining.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Backbones — ConvNeXt-B  ×  Swin-B</a:t>
            </a:r>
          </a:p>
        </p:txBody>
      </p:sp>
      <p:pic>
        <p:nvPicPr>
          <p:cNvPr id="5" name="Picture 4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4996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ConvNeXt-B (87.6 M)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Discriminative LR (1e-5 bb / 1e-3 head), cosine, 100 ep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Best val macro-F1 = 0.848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Swin-B (86.7 M)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3-phase progressive unfreeze, layer-wise decay γ = 0.7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Best val macro-F1 = 0.812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Heterogeneity confirmed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Cohen’s κ (val 8-class) = 0.679 — significant disagreement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Median heatmap IoU = 0.051 — different spatial focus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→ Fusion can recover complementary 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Two-head v3.6 fusion architecture</a:t>
            </a:r>
          </a:p>
        </p:txBody>
      </p:sp>
      <p:pic>
        <p:nvPicPr>
          <p:cNvPr id="5" name="Picture 4" descr="fusion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132320" cy="48887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28016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22222"/>
                </a:solidFill>
                <a:latin typeface="Calibri"/>
              </a:rPr>
              <a:t>• Shared trunk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Linear(2048→1024)→BN→ReLU→Drop(0.5)</a:t>
            </a:r>
          </a:p>
          <a:p>
            <a:pPr algn="l"/>
            <a:r>
              <a:rPr sz="1400">
                <a:solidFill>
                  <a:srgbClr val="222222"/>
                </a:solidFill>
                <a:latin typeface="Calibri"/>
              </a:rPr>
              <a:t>• Binary head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1024→256→1  (BCE loss, low capacity, regularizes)</a:t>
            </a:r>
          </a:p>
          <a:p>
            <a:pPr algn="l"/>
            <a:r>
              <a:rPr sz="1400">
                <a:solidFill>
                  <a:srgbClr val="222222"/>
                </a:solidFill>
                <a:latin typeface="Calibri"/>
              </a:rPr>
              <a:t>• Subtype head (8-class)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1024→512 → GroupNorm(32) → ReLU → Drop(0.5)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+ SE block (r=16) + scaled-LN residual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Per-class modulation 0.5 + 0.5·σ(Wₒ) ∈ [0.5, 1.0]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Multi-expert head: 8 experts (Ductal 256-hidden, others 128) + softmax gate</a:t>
            </a:r>
          </a:p>
          <a:p>
            <a:pPr algn="l"/>
            <a:r>
              <a:rPr sz="1400">
                <a:solidFill>
                  <a:srgbClr val="222222"/>
                </a:solidFill>
                <a:latin typeface="Calibri"/>
              </a:rPr>
              <a:t>• Why these choices?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GroupNorm avoids NaN stats on rare-class minibatches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Sigmoid-gated modulation cannot collapse to zero</a:t>
            </a:r>
          </a:p>
          <a:p>
            <a:pPr lvl="1"/>
            <a:r>
              <a:rPr sz="1100">
                <a:solidFill>
                  <a:srgbClr val="555555"/>
                </a:solidFill>
                <a:latin typeface="Calibri"/>
              </a:rPr>
              <a:t>– Decoupled heads stop binary/8-class gradient conflicts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Loss, sampler, optimiser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Loss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BCE on binary head  +  1.0 · Logit-Adjusted CE (Menon 2021) on 8-class head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τ = 1.0 except τ[Ductal] = 0.0  ·  α = 1.5 / 1.0  rare / common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Label smoothing 0.05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Sampler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WeightedRandomSampler with weights = 1 / √fₒ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Ductal : Papillary sample probability 1 : 2.4 instead of 1 : 13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Optimiser &amp; schedule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AdamW(wd = 5e-4)  ·  binary branch LR 1e-4, shared+subtype LR 3e-4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3-epoch linear warm-up → 60-epoch cosine decay  ·  gradient clip ‖g‖₂ ≤ 1.0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EMA decay 0.999  ·  evaluated alongside raw weights each epoch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Test-time augmentation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10 forward passes with feature-space N(0, 0.01) noise · softmax averaged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Selection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max  0.3 · val bin-F1  +  0.7 · val macro-F1  ·  gated bin-F1 &gt; 0.970</a:t>
            </a:r>
          </a:p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• Calibration (post-hoc)</a:t>
            </a:r>
          </a:p>
          <a:p>
            <a:pPr lvl="1"/>
            <a:r>
              <a:rPr sz="1300">
                <a:solidFill>
                  <a:srgbClr val="555555"/>
                </a:solidFill>
                <a:latin typeface="Calibri"/>
              </a:rPr>
              <a:t>– Per-class temperature scaling fitted on val NLL via LBFGS  ·  T[Ductal] capped ≥ 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Evaluation framework — what we measure and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Primary metric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8-class macro-F1 (treats every subtype equally — robust to imbalance)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Secondary metrics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Binary F1, binary AUC, McNemar paired tests, bootstrap 95 % CIs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Expected Calibration Error (ECE) before &amp; after temperature scaling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Cross-validation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Image-level 5-fold (benchmark-comparable, leakage-prone)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Patient-level 5-fold (leakage-free, primary SOTA metric)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Pooled vs per-fold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Pooled (concat of 5 held-out folds) avoids per-fold sampling noise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1,693 prediction pairs across all folds combined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Statistical tests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McNemar (8-class continuity-adjusted χ²; binary exact when b+c&lt;25)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1,000-resample bootstrap percentile 95 % CI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Explainability evaluation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Deletion-AUC (Petsiuk 2018) on a 30-image stratified subset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5 methods × 3 models  ·  Spatial IoU between backbone heatmaps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Headline results — patient-level 5-fold CV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8c-F1 mean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95 % bootstrap CI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Swin-B (linear head)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0.7473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ConvNeXt-B (linear head)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0.8157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0.0891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 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Logit ensemble (w_swin=0.56)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16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Feature ensemble (562 K MLP)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0.8211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0.1599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562 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Binary-opt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[0.861, 0.893]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1.05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Two-head v3.6 (this 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0.8352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0.0876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[0.876, 0.907]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4.27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Prior SOTA — MiSLAS (RN-50)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[0.847, 0.892]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88.0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Pooled bootstrap mean = 0.892  ·  95 % CI = [0.876, 0.907]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Lowest std among all variants (0.0876) — most patient-invariant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McNemar 8-class vs Feature Ensemble: p = 8.6 × 10⁻⁵  (gain is in subtype, not malignancy)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20× fewer parameters than MiSLAS, 0.892 vs 0.868 pooled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Per-class behaviour (v3.6, pooled patient-CV)</a:t>
            </a:r>
          </a:p>
        </p:txBody>
      </p:sp>
      <p:pic>
        <p:nvPicPr>
          <p:cNvPr id="5" name="Picture 4" descr="cv_confusion_matrix_v36_p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400800" cy="2615238"/>
          </a:xfrm>
          <a:prstGeom prst="rect">
            <a:avLst/>
          </a:prstGeom>
        </p:spPr>
      </p:pic>
      <p:pic>
        <p:nvPicPr>
          <p:cNvPr id="6" name="Picture 5" descr="cv_per_class_f1_v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97280"/>
            <a:ext cx="5029200" cy="2432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Dominant confusions: Ductal ↔ Fibroadenoma (common), Adenosis ↔ Phyllodes (rare benign).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Statistical validation — bootstrap + per-fold</a:t>
            </a:r>
          </a:p>
        </p:txBody>
      </p:sp>
      <p:pic>
        <p:nvPicPr>
          <p:cNvPr id="5" name="Picture 4" descr="bootstrap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546879"/>
          </a:xfrm>
          <a:prstGeom prst="rect">
            <a:avLst/>
          </a:prstGeom>
        </p:spPr>
      </p:pic>
      <p:pic>
        <p:nvPicPr>
          <p:cNvPr id="6" name="Picture 5" descr="perfold_macro_f1_v36_vs_feat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927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v3.6 lies above the Feature Ensemble in 4 / 5 folds. Bootstrap CIs of the two models overlap minimally on macro-F1.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Calibration — ECE drops from 0.092 to 0.041 after per-class T-scaling</a:t>
            </a:r>
          </a:p>
        </p:txBody>
      </p:sp>
      <p:pic>
        <p:nvPicPr>
          <p:cNvPr id="5" name="Picture 4" descr="reliability_diagram_v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2848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Per-class temperature scaling (Guo et al. 2017)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8 temperatures fit by LBFGS on val NLL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Applied to test logits before argmax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v3.6 ECE = 0.0605 on pooled test set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Within “well-calibrated” regime (ECE &lt; 0.1; Mukhoti 2022)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None of the 2022+ comparators report ECE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Why it matters clinically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Calibrated probabilities are required to use the model in a decision-support UI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Enables abstain-on-uncertainty thresholds for borderline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Explainability — Integrated Gradients on the FusionWrapper</a:t>
            </a:r>
          </a:p>
        </p:txBody>
      </p:sp>
      <p:pic>
        <p:nvPicPr>
          <p:cNvPr id="5" name="Picture 4" descr="xai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28367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Problem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Grad-CAM family is not faithful for MLP fusion heads.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CAM operates on a spatial feature map — fusion happens AFTER pooling.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Solution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FusionWrapper exposes the cached 2048-D feature.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Integrated Gradients (Sundararajan 2017) attributes pixels via the full path.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Result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IG-on-fusion Deletion-AUC = 0.178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Grad-CAM++ on fusion = 0.462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61 % relative reduction (lower is better)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Faithfulness — full Deletion-AUC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Swin alone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ConvNeXt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Fusion std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Runtime (s)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vs IG (p)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Grad-CAM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Grad-CAM++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HiResCAM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LayerCAM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Integrated Gradients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eletion_auc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11064240" cy="49586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Ablation studies — what makes v3.6 work</a:t>
            </a:r>
          </a:p>
        </p:txBody>
      </p:sp>
      <p:pic>
        <p:nvPicPr>
          <p:cNvPr id="5" name="Picture 4" descr="ablation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83680" cy="3095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28016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GroupNorm &gt; BatchNorm (most consequential)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Removing GN reproduces the v3.5 collapse (std 0.18 vs 0.09)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Multi-expert head adds 1.6 pp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Per-class capacity routes rare classes to dedicated experts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Sigmoid-gated modulation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Bounded in [0.5, 1.0] — cannot collapse to zero (v3.5 failure mode)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Decoupled trunks (binary vs subtype)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Avoids the gradient conflict that plagued single-head fusion</a:t>
            </a:r>
          </a:p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• 1/√fₒ sampler beats balanced and inverse-frequency</a:t>
            </a:r>
          </a:p>
          <a:p>
            <a:pPr lvl="1"/>
            <a:r>
              <a:rPr sz="1200">
                <a:solidFill>
                  <a:srgbClr val="555555"/>
                </a:solidFill>
                <a:latin typeface="Calibri"/>
              </a:rPr>
              <a:t>– Confirmed in a 4×3 loss × sampler grid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Gating mechanism — what the experts actually learn</a:t>
            </a:r>
          </a:p>
        </p:txBody>
      </p:sp>
      <p:pic>
        <p:nvPicPr>
          <p:cNvPr id="5" name="Picture 4" descr="g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164434"/>
          </a:xfrm>
          <a:prstGeom prst="rect">
            <a:avLst/>
          </a:prstGeom>
        </p:spPr>
      </p:pic>
      <p:pic>
        <p:nvPicPr>
          <p:cNvPr id="6" name="Picture 5" descr="gate_entropy_by_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092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Gate output is close to uniform for ambiguous samples and sharpens only for clearly-cued ones — the 8 experts do not collapse onto each other under the 0.1 coefficient.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Comparison with 2022+ BreaKHis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Image-CV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Patient-CV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Gen. gap (pp)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Kumar 2023 (MS-CNN)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Alom 2022 (IRRCNN)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0.9743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Joseph 2022 (DenseNet 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Mehdizadeh 2024 (SupCon)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0.9363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Sharma 2022 (DenseNet+LSTM)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0.8600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Two-head v3.6 (this 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0.9372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0.8920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0.0605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Three observations: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1.  Image-level: v3.6 is competitive (0.937 vs 0.974–0.980) without full backbone fine-tune.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2.  Patient-level: 1–2 pp below Kumar/Alom but with 5.9× fewer params and the only reported ECE.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3.  Generalisation gap: v3.6 = 4.5 pp vs 7.0–7.6 pp prior → new SOTA on patient-invariant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Limitations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BreaKHis only — 1,693 tiles, 82 patients, single institution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Backbones frozen by design — final pp from full FT not exploited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Tile-level prediction — no slide/MIL aggregation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Computational footprint of TTA: 10× inference cost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Future work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Multi-magnification (40×–400×) fusion using BreaKHis full hierarchy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End-to-end training with feature-level distillation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Patient-level MIL aggregation for whole-slide deployment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Uncertainty-aware clinical UI (abstain when calibrated p &lt; threshold)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External validation: TCGA-BRCA, Camelyon17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Bottleneck is recombination, not extraction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Both backbones are competent feature extractors after a single fine-tune.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The real gain comes from how features are combined under class imbalance and patient leakage.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v3.6 sets new SOTA on three axes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Patient-CV macro-F1 = 0.892  (vs MiSLAS 0.868, with 20× fewer params)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Generalisation gap = 4.5 pp  (vs 7.0–7.6 pp prior 2022+ work)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First BreaKHis 2022+ result to report calibration (ECE = 0.0605)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Faithful XAI requires model-aware methods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Grad-CAM family is unfaithful for MLP fusion (AUC-DEL ≈ 0.46).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Integrated Gradients on the FusionWrapper drops AUC-DEL to 0.178.</a:t>
            </a:r>
          </a:p>
          <a:p>
            <a:pPr algn="l"/>
            <a:r>
              <a:rPr sz="1800">
                <a:solidFill>
                  <a:srgbClr val="222222"/>
                </a:solidFill>
                <a:latin typeface="Calibri"/>
              </a:rPr>
              <a:t>• Practical impact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0.978 binary F1, 0.991 AUC → essentially solved as a screening tool.</a:t>
            </a:r>
          </a:p>
          <a:p>
            <a:pPr lvl="1"/>
            <a:r>
              <a:rPr sz="1500">
                <a:solidFill>
                  <a:srgbClr val="555555"/>
                </a:solidFill>
                <a:latin typeface="Calibri"/>
              </a:rPr>
              <a:t>– Remaining gain is in subtype distinction, not in malignancy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Multimodal Explainable AI for Breast Histopathology —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728655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03120" cy="36576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728655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Abdullah Amir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Multimodal Explainable AI for Breast Histopathology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